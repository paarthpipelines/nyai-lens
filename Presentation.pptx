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4" r:id="rId4"/>
    <p:sldId id="258" r:id="rId5"/>
    <p:sldId id="259" r:id="rId6"/>
    <p:sldId id="260" r:id="rId7"/>
    <p:sldId id="263" r:id="rId8"/>
    <p:sldId id="257" r:id="rId9"/>
    <p:sldId id="261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75A85-5C17-4CB8-A7A1-7D152BAABF42}" v="396" dt="2026-05-06T05:31:45.805"/>
    <p1510:client id="{4649A9BC-0601-4ADE-BF14-728A3D0FEBCE}" v="753" dt="2026-05-05T11:25:31.059"/>
    <p1510:client id="{8523A190-5AD5-4430-9C33-E00038E5412B}" v="664" dt="2026-05-06T04:03:51.075"/>
    <p1510:client id="{D6280033-37FD-4A79-BBA5-D9E2FF312D8F}" v="59" dt="2026-05-05T05:31:59.030"/>
    <p1510:client id="{EC2DC487-324A-4E0D-9C67-FE16A905357B}" v="129" dt="2026-05-06T03:34:33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" name="Rectangle 205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GB" sz="5200">
                <a:solidFill>
                  <a:schemeClr val="tx2"/>
                </a:solidFill>
              </a:rPr>
              <a:t>NyAI-Lens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A legal judgement processing with AI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42881-09DB-0FD8-E2BE-AE7227E45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latin typeface="+mj-lt"/>
                <a:ea typeface="+mj-ea"/>
                <a:cs typeface="+mj-cs"/>
              </a:rPr>
              <a:t>PDF processing</a:t>
            </a:r>
            <a:r>
              <a:rPr lang="en-US" dirty="0"/>
              <a:t> (/</a:t>
            </a:r>
            <a:r>
              <a:rPr lang="en-US"/>
              <a:t>extract)</a:t>
            </a:r>
            <a:endParaRPr lang="en-US" kern="1200" dirty="0">
              <a:latin typeface="+mj-l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data flow&#10;&#10;AI-generated content may be incorrect.">
            <a:extLst>
              <a:ext uri="{FF2B5EF4-FFF2-40B4-BE49-F238E27FC236}">
                <a16:creationId xmlns:a16="http://schemas.microsoft.com/office/drawing/2014/main" id="{29499B7D-98EA-AE4C-F2E6-B561DF74F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90" y="2202340"/>
            <a:ext cx="11898943" cy="393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88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B7145-E4D2-F9FE-5B91-03363F95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Explanation /extract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FF19-82B4-E37B-A450-C6BBF6795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200"/>
              <a:t>Dividing the Judgement into 3 parts: </a:t>
            </a:r>
            <a:br>
              <a:rPr lang="en-GB" sz="2200"/>
            </a:br>
            <a:r>
              <a:rPr lang="en-GB" sz="2200"/>
              <a:t>1. UpperMetadata (Judgement Information)</a:t>
            </a:r>
            <a:br>
              <a:rPr lang="en-GB" sz="2200"/>
            </a:br>
            <a:r>
              <a:rPr lang="en-GB" sz="2200"/>
              <a:t>2. ParaBody (Contains the numbered paragraphs)</a:t>
            </a:r>
            <a:br>
              <a:rPr lang="en-US" sz="2200"/>
            </a:br>
            <a:r>
              <a:rPr lang="en-GB" sz="2200"/>
              <a:t>3. LowerMetadata ( Judge Signatures)</a:t>
            </a:r>
          </a:p>
          <a:p>
            <a:r>
              <a:rPr lang="en-GB" sz="2200"/>
              <a:t>Using Upper and Lower Metadata for extracting and storing metadata dict in _doc_store .</a:t>
            </a:r>
          </a:p>
          <a:p>
            <a:r>
              <a:rPr lang="en-GB" sz="2200"/>
              <a:t>Chunks are divided based on numbered paragraphs.(This was done considering the legal convivence.</a:t>
            </a:r>
          </a:p>
        </p:txBody>
      </p:sp>
    </p:spTree>
    <p:extLst>
      <p:ext uri="{BB962C8B-B14F-4D97-AF65-F5344CB8AC3E}">
        <p14:creationId xmlns:p14="http://schemas.microsoft.com/office/powerpoint/2010/main" val="344563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9B7FC-A980-CD40-3EB8-85261CB67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latin typeface="+mj-lt"/>
                <a:ea typeface="+mj-ea"/>
                <a:cs typeface="+mj-cs"/>
              </a:rPr>
              <a:t>Previous Architecture /classify</a:t>
            </a:r>
            <a:endParaRPr lang="en-US" sz="4000" kern="1200" dirty="0">
              <a:latin typeface="+mj-lt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3A865FB1-9239-B7B6-585A-1F15FA0F4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51" y="1970672"/>
            <a:ext cx="11287125" cy="470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5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B5DC2-7B33-5C72-5239-4812F843A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Previous Architecture /classify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891F-1D4D-F795-2843-19E8E48E6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GB" sz="2200"/>
              <a:t>Pros:</a:t>
            </a:r>
          </a:p>
          <a:p>
            <a:pPr marL="457200" indent="-457200"/>
            <a:r>
              <a:rPr lang="en-GB" sz="2200"/>
              <a:t>Adding context for classification improved accuracy significantly.</a:t>
            </a:r>
          </a:p>
          <a:p>
            <a:pPr marL="457200" indent="-457200"/>
            <a:r>
              <a:rPr lang="en-GB" sz="2200"/>
              <a:t>Summary can be displayed to users.</a:t>
            </a:r>
          </a:p>
          <a:p>
            <a:pPr marL="0" indent="0">
              <a:buNone/>
            </a:pPr>
            <a:r>
              <a:rPr lang="en-GB" sz="2200"/>
              <a:t>Cons:</a:t>
            </a:r>
          </a:p>
          <a:p>
            <a:pPr marL="457200" indent="-457200"/>
            <a:r>
              <a:rPr lang="en-GB" sz="2200"/>
              <a:t>For judgements with higher paragraphs input context cost is high as summary is sent to the LLM every time.</a:t>
            </a:r>
          </a:p>
          <a:p>
            <a:pPr marL="457200" indent="-457200"/>
            <a:r>
              <a:rPr lang="en-GB" sz="2200"/>
              <a:t>Threading makes the hardware utilization is higher especially for local GPU as there is higher number of paragraphs</a:t>
            </a:r>
          </a:p>
        </p:txBody>
      </p:sp>
    </p:spTree>
    <p:extLst>
      <p:ext uri="{BB962C8B-B14F-4D97-AF65-F5344CB8AC3E}">
        <p14:creationId xmlns:p14="http://schemas.microsoft.com/office/powerpoint/2010/main" val="1143092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7543B-962E-E05F-AA9F-68CF0B922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/>
              <a:t>Upgraded /classify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F6CAB056-B7AB-70D3-2990-00853DC83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Legal Judgements are procedural therefore context and understanding is captured by </a:t>
            </a:r>
            <a:r>
              <a:rPr lang="en-US" sz="2200" dirty="0" err="1"/>
              <a:t>prev</a:t>
            </a:r>
            <a:r>
              <a:rPr lang="en-US" sz="2200" dirty="0"/>
              <a:t> and next chunks start and end</a:t>
            </a:r>
          </a:p>
          <a:p>
            <a:r>
              <a:rPr lang="en-US" sz="2200"/>
              <a:t>Less latency per call and better accuracy</a:t>
            </a:r>
            <a:endParaRPr lang="en-US" sz="2200" dirty="0"/>
          </a:p>
          <a:p>
            <a:endParaRPr lang="en-US" sz="2200" dirty="0"/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A38E57A5-926F-9371-CFCF-7986B24D7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543" y="640080"/>
            <a:ext cx="522922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06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575A53-C8ED-10BE-A7A2-DFC40B757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4600"/>
              <a:t>Judgement Similarity (/similar)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C6456D27-25C2-7D68-7E43-1453BD7C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lnSpcReduction="10000"/>
          </a:bodyPr>
          <a:lstStyle/>
          <a:p>
            <a:r>
              <a:rPr lang="en-US" sz="2200" dirty="0"/>
              <a:t>Similarity by comparing judgment facts, reasonings, precedents, provisions and statues.</a:t>
            </a:r>
          </a:p>
          <a:p>
            <a:r>
              <a:rPr lang="en-US" sz="2200"/>
              <a:t>3 Embedding vectors + 1 BM25</a:t>
            </a:r>
            <a:br>
              <a:rPr lang="en-US" sz="2200" dirty="0"/>
            </a:br>
            <a:r>
              <a:rPr lang="en-US" sz="2200"/>
              <a:t>used to rank top 10 and then the rank list is fused using RRF which then evaluated using Cross-Encoder for re ranking.</a:t>
            </a:r>
          </a:p>
          <a:p>
            <a:r>
              <a:rPr lang="en-US" sz="2200" dirty="0"/>
              <a:t>Similarity, Ratio decidendi, Preced</a:t>
            </a:r>
            <a:r>
              <a:rPr lang="en-US" sz="2200"/>
              <a:t>ents, Provisions and Statues are computed for display too.</a:t>
            </a:r>
            <a:endParaRPr lang="en-US" sz="2200" dirty="0"/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5204AEDA-A919-1027-BE1F-D3E953D84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876" y="529911"/>
            <a:ext cx="5763093" cy="596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12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D4599-9180-FA97-0E5B-10E392176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3800" dirty="0"/>
              <a:t>Previous Architecture /chat </a:t>
            </a:r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1DEBAC-987B-2F7D-6FA2-938C98895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Pros:</a:t>
            </a:r>
          </a:p>
          <a:p>
            <a:r>
              <a:rPr lang="en-US" sz="1800" dirty="0"/>
              <a:t>Good output in a simple </a:t>
            </a:r>
            <a:r>
              <a:rPr lang="en-US" sz="1800"/>
              <a:t>architecture</a:t>
            </a:r>
          </a:p>
          <a:p>
            <a:r>
              <a:rPr lang="en-US" sz="1800"/>
              <a:t>NO contextual gap</a:t>
            </a:r>
          </a:p>
          <a:p>
            <a:pPr marL="0" indent="0">
              <a:buNone/>
            </a:pPr>
            <a:r>
              <a:rPr lang="en-US" sz="1800"/>
              <a:t>Cons:</a:t>
            </a:r>
          </a:p>
          <a:p>
            <a:pPr marL="285750" indent="-285750"/>
            <a:r>
              <a:rPr lang="en-US" sz="1800"/>
              <a:t>High token consumption</a:t>
            </a:r>
          </a:p>
          <a:p>
            <a:pPr marL="285750" indent="-285750"/>
            <a:r>
              <a:rPr lang="en-US" sz="1800"/>
              <a:t>Hallucinations</a:t>
            </a:r>
          </a:p>
          <a:p>
            <a:pPr marL="285750" indent="-285750"/>
            <a:r>
              <a:rPr lang="en-US" sz="1800"/>
              <a:t>Detailing (LLM dependent)</a:t>
            </a:r>
            <a:endParaRPr lang="en-US" sz="1800" dirty="0"/>
          </a:p>
        </p:txBody>
      </p:sp>
      <p:pic>
        <p:nvPicPr>
          <p:cNvPr id="4" name="Content Placeholder 3" descr="A diagram of a chat&#10;&#10;AI-generated content may be incorrect.">
            <a:extLst>
              <a:ext uri="{FF2B5EF4-FFF2-40B4-BE49-F238E27FC236}">
                <a16:creationId xmlns:a16="http://schemas.microsoft.com/office/drawing/2014/main" id="{F06956B0-0766-5FA6-489D-AFC338A0B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011" y="640080"/>
            <a:ext cx="672028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37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858AC-BCBE-DE56-8A6E-74771F3E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4600"/>
              <a:t>Agentic Chatbot /chat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D23CD0D-C6B9-A3D1-4FB3-F6A930C61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962" y="2807208"/>
            <a:ext cx="3799974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3 Layered Agent</a:t>
            </a:r>
            <a:br>
              <a:rPr lang="en-US" sz="2200" dirty="0"/>
            </a:br>
            <a:r>
              <a:rPr lang="en-US" sz="2200" dirty="0"/>
              <a:t>Tool Planning and Rewri</a:t>
            </a:r>
            <a:r>
              <a:rPr lang="en-US" sz="2200"/>
              <a:t>ting -&gt; Generating </a:t>
            </a:r>
            <a:r>
              <a:rPr lang="en-US" sz="2200" dirty="0"/>
              <a:t>-&gt; Verify</a:t>
            </a:r>
            <a:endParaRPr lang="en-US" dirty="0"/>
          </a:p>
          <a:p>
            <a:r>
              <a:rPr lang="en-US" sz="2200" dirty="0"/>
              <a:t>Tools used are:</a:t>
            </a:r>
            <a:br>
              <a:rPr lang="en-US" sz="2200" dirty="0"/>
            </a:br>
            <a:r>
              <a:rPr lang="en-US" sz="2200" dirty="0"/>
              <a:t>1. </a:t>
            </a:r>
            <a:r>
              <a:rPr lang="en-US" sz="2200" dirty="0" err="1"/>
              <a:t>Get_metadata</a:t>
            </a:r>
            <a:r>
              <a:rPr lang="en-US" sz="2200" dirty="0"/>
              <a:t> (/extract)</a:t>
            </a:r>
            <a:br>
              <a:rPr lang="en-US" sz="2200" dirty="0"/>
            </a:br>
            <a:r>
              <a:rPr lang="en-US" sz="2200" dirty="0"/>
              <a:t>2. </a:t>
            </a:r>
            <a:r>
              <a:rPr lang="en-US" sz="2200" dirty="0" err="1"/>
              <a:t>Get_summary</a:t>
            </a:r>
            <a:r>
              <a:rPr lang="en-US" sz="2200" dirty="0"/>
              <a:t> (/similar)</a:t>
            </a:r>
            <a:br>
              <a:rPr lang="en-US" sz="2200" dirty="0"/>
            </a:br>
            <a:r>
              <a:rPr lang="en-US" sz="2200" dirty="0"/>
              <a:t>3. </a:t>
            </a:r>
            <a:r>
              <a:rPr lang="en-US" sz="2200" dirty="0" err="1"/>
              <a:t>Retrive_paragraphs</a:t>
            </a:r>
            <a:br>
              <a:rPr lang="en-US" sz="2200" dirty="0"/>
            </a:br>
            <a:r>
              <a:rPr lang="en-US" sz="2200" dirty="0"/>
              <a:t>4. </a:t>
            </a:r>
            <a:r>
              <a:rPr lang="en-US" sz="2200" dirty="0" err="1"/>
              <a:t>Get_precedents</a:t>
            </a:r>
          </a:p>
        </p:txBody>
      </p:sp>
      <p:pic>
        <p:nvPicPr>
          <p:cNvPr id="5" name="Content Placeholder 4" descr="A diagram of a tool&#10;&#10;AI-generated content may be incorrect.">
            <a:extLst>
              <a:ext uri="{FF2B5EF4-FFF2-40B4-BE49-F238E27FC236}">
                <a16:creationId xmlns:a16="http://schemas.microsoft.com/office/drawing/2014/main" id="{FCD9D6CD-403F-3746-9C5E-6D74E8AD0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610" y="-1604"/>
            <a:ext cx="4651274" cy="686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17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NyAI-Lens</vt:lpstr>
      <vt:lpstr>PDF processing (/extract)</vt:lpstr>
      <vt:lpstr>Explanation /extract</vt:lpstr>
      <vt:lpstr>Previous Architecture /classify</vt:lpstr>
      <vt:lpstr>Previous Architecture /classify</vt:lpstr>
      <vt:lpstr>Upgraded /classify</vt:lpstr>
      <vt:lpstr>Judgement Similarity (/similar)</vt:lpstr>
      <vt:lpstr>Previous Architecture /chat </vt:lpstr>
      <vt:lpstr>Agentic Chatbot /chat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393</cp:revision>
  <dcterms:created xsi:type="dcterms:W3CDTF">2026-05-05T05:29:50Z</dcterms:created>
  <dcterms:modified xsi:type="dcterms:W3CDTF">2026-05-06T05:56:08Z</dcterms:modified>
</cp:coreProperties>
</file>